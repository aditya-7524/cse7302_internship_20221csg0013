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60" r:id="rId3"/>
    <p:sldId id="270" r:id="rId4"/>
    <p:sldId id="261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77B3E-18F0-4850-9DD9-20817DE1806E}" v="2" dt="2026-04-10T09:21:30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lkarni" userId="cbd3b2f186323f70" providerId="LiveId" clId="{B38F260E-9481-4CE2-8B1C-629BA0D72946}"/>
    <pc:docChg chg="modSld">
      <pc:chgData name="Aditya Kulkarni" userId="cbd3b2f186323f70" providerId="LiveId" clId="{B38F260E-9481-4CE2-8B1C-629BA0D72946}" dt="2026-04-10T09:21:32.974" v="3" actId="20577"/>
      <pc:docMkLst>
        <pc:docMk/>
      </pc:docMkLst>
      <pc:sldChg chg="modSp">
        <pc:chgData name="Aditya Kulkarni" userId="cbd3b2f186323f70" providerId="LiveId" clId="{B38F260E-9481-4CE2-8B1C-629BA0D72946}" dt="2026-04-10T09:21:06.322" v="0"/>
        <pc:sldMkLst>
          <pc:docMk/>
          <pc:sldMk cId="3066724582" sldId="259"/>
        </pc:sldMkLst>
        <pc:graphicFrameChg chg="mod">
          <ac:chgData name="Aditya Kulkarni" userId="cbd3b2f186323f70" providerId="LiveId" clId="{B38F260E-9481-4CE2-8B1C-629BA0D72946}" dt="2026-04-10T09:21:06.322" v="0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Aditya Kulkarni" userId="cbd3b2f186323f70" providerId="LiveId" clId="{B38F260E-9481-4CE2-8B1C-629BA0D72946}" dt="2026-04-10T09:21:32.974" v="3" actId="20577"/>
        <pc:sldMkLst>
          <pc:docMk/>
          <pc:sldMk cId="516993045" sldId="260"/>
        </pc:sldMkLst>
        <pc:spChg chg="mod">
          <ac:chgData name="Aditya Kulkarni" userId="cbd3b2f186323f70" providerId="LiveId" clId="{B38F260E-9481-4CE2-8B1C-629BA0D72946}" dt="2026-04-10T09:21:32.974" v="3" actId="20577"/>
          <ac:spMkLst>
            <pc:docMk/>
            <pc:sldMk cId="516993045" sldId="260"/>
            <ac:spMk id="97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/>
            <a:t>Requirement analysis, system design approval, and frontend prototyping.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US" dirty="0"/>
            <a:t>Backend development, database deployment, and core AI module integration.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5398079-FB76-436C-82CF-FAB4A50B6059}">
      <dgm:prSet custT="1"/>
      <dgm:spPr/>
      <dgm:t>
        <a:bodyPr/>
        <a:lstStyle/>
        <a:p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dirty="0"/>
        </a:p>
      </dgm:t>
    </dgm:pt>
    <dgm:pt modelId="{07B69C40-7438-4D06-B174-9C14CA52FB61}" type="parTrans" cxnId="{B489589A-B374-4DF1-894E-332B569F2085}">
      <dgm:prSet/>
      <dgm:spPr/>
      <dgm:t>
        <a:bodyPr/>
        <a:lstStyle/>
        <a:p>
          <a:endParaRPr lang="en-IN"/>
        </a:p>
      </dgm:t>
    </dgm:pt>
    <dgm:pt modelId="{E636F1A5-CBBE-4F52-9E35-B0DECF890ADB}" type="sibTrans" cxnId="{B489589A-B374-4DF1-894E-332B569F2085}">
      <dgm:prSet/>
      <dgm:spPr/>
      <dgm:t>
        <a:bodyPr/>
        <a:lstStyle/>
        <a:p>
          <a:endParaRPr lang="en-IN"/>
        </a:p>
      </dgm:t>
    </dgm:pt>
    <dgm:pt modelId="{F8B4BD0A-38DD-44DE-A842-327532BA214D}">
      <dgm:prSet custT="1"/>
      <dgm:spPr/>
      <dgm:t>
        <a:bodyPr/>
        <a:lstStyle/>
        <a:p>
          <a:r>
            <a:rPr lang="en-GB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A0919B-4EA3-4C6E-BF6E-E1B5108DE142}" type="parTrans" cxnId="{3862D0B9-316A-4273-85B2-AC6195DD0BAC}">
      <dgm:prSet/>
      <dgm:spPr/>
      <dgm:t>
        <a:bodyPr/>
        <a:lstStyle/>
        <a:p>
          <a:endParaRPr lang="en-IN"/>
        </a:p>
      </dgm:t>
    </dgm:pt>
    <dgm:pt modelId="{36EC399E-DE5B-40A7-A6E8-6D3558335FFB}" type="sibTrans" cxnId="{3862D0B9-316A-4273-85B2-AC6195DD0BAC}">
      <dgm:prSet/>
      <dgm:spPr/>
      <dgm:t>
        <a:bodyPr/>
        <a:lstStyle/>
        <a:p>
          <a:endParaRPr lang="en-IN"/>
        </a:p>
      </dgm:t>
    </dgm:pt>
    <dgm:pt modelId="{E3FD0B13-2D2C-480F-A830-D99C1ADCBB4E}">
      <dgm:prSet/>
      <dgm:spPr/>
      <dgm:t>
        <a:bodyPr/>
        <a:lstStyle/>
        <a:p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075DB2-4FCA-46AB-8C02-409D5F7A6D9F}" type="parTrans" cxnId="{BC0FCD37-DA71-4B22-8AA3-7F65CDFE1040}">
      <dgm:prSet/>
      <dgm:spPr/>
      <dgm:t>
        <a:bodyPr/>
        <a:lstStyle/>
        <a:p>
          <a:endParaRPr lang="en-IN"/>
        </a:p>
      </dgm:t>
    </dgm:pt>
    <dgm:pt modelId="{E6C88B32-10B5-4A91-B679-950E4A5395EA}" type="sibTrans" cxnId="{BC0FCD37-DA71-4B22-8AA3-7F65CDFE1040}">
      <dgm:prSet/>
      <dgm:spPr/>
      <dgm:t>
        <a:bodyPr/>
        <a:lstStyle/>
        <a:p>
          <a:endParaRPr lang="en-IN"/>
        </a:p>
      </dgm:t>
    </dgm:pt>
    <dgm:pt modelId="{28FB8BAB-C97C-4036-8F66-CD5138124E10}">
      <dgm:prSet custT="1"/>
      <dgm:spPr/>
      <dgm:t>
        <a:bodyPr/>
        <a:lstStyle/>
        <a:p>
          <a:r>
            <a:rPr lang="en-GB" sz="1200" dirty="0"/>
            <a:t>Fully functional Responsive company website</a:t>
          </a:r>
          <a:endParaRPr lang="en-IN" sz="1200" dirty="0"/>
        </a:p>
      </dgm:t>
    </dgm:pt>
    <dgm:pt modelId="{B17F0817-5FF7-4515-AF00-AB82DBB71A3C}" type="parTrans" cxnId="{42091742-A9B5-47FB-8E0E-8C0642A42A1A}">
      <dgm:prSet/>
      <dgm:spPr/>
      <dgm:t>
        <a:bodyPr/>
        <a:lstStyle/>
        <a:p>
          <a:endParaRPr lang="en-IN"/>
        </a:p>
      </dgm:t>
    </dgm:pt>
    <dgm:pt modelId="{C8FE8ED6-A00D-43C4-AA22-B3FA89C88AF3}" type="sibTrans" cxnId="{42091742-A9B5-47FB-8E0E-8C0642A42A1A}">
      <dgm:prSet/>
      <dgm:spPr/>
      <dgm:t>
        <a:bodyPr/>
        <a:lstStyle/>
        <a:p>
          <a:endParaRPr lang="en-IN"/>
        </a:p>
      </dgm:t>
    </dgm:pt>
    <dgm:pt modelId="{6F179DC3-E40C-4669-A19F-C57635D65FF4}">
      <dgm:prSet/>
      <dgm:spPr/>
      <dgm:t>
        <a:bodyPr/>
        <a:lstStyle/>
        <a:p>
          <a:endParaRPr lang="en-IN" sz="1400"/>
        </a:p>
      </dgm:t>
    </dgm:pt>
    <dgm:pt modelId="{2B8B3C08-A2F2-4C52-98F2-CFCD00B520E4}" type="parTrans" cxnId="{B3DDBDC2-8DAB-4445-8F86-263CC63EE05C}">
      <dgm:prSet/>
      <dgm:spPr/>
      <dgm:t>
        <a:bodyPr/>
        <a:lstStyle/>
        <a:p>
          <a:endParaRPr lang="en-IN"/>
        </a:p>
      </dgm:t>
    </dgm:pt>
    <dgm:pt modelId="{43439C8B-6079-416E-992F-7EC399AEBABD}" type="sibTrans" cxnId="{B3DDBDC2-8DAB-4445-8F86-263CC63EE05C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7860F06-101A-420A-8974-927D232ACAEE}" type="presOf" srcId="{F8B4BD0A-38DD-44DE-A842-327532BA214D}" destId="{98225A61-A0EC-450A-BED8-EF2E47E8FD18}" srcOrd="1" destOrd="1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C0FCD37-DA71-4B22-8AA3-7F65CDFE1040}" srcId="{5E92505A-51E0-4F78-B3C5-704ACF8710DE}" destId="{E3FD0B13-2D2C-480F-A830-D99C1ADCBB4E}" srcOrd="2" destOrd="0" parTransId="{D4075DB2-4FCA-46AB-8C02-409D5F7A6D9F}" sibTransId="{E6C88B32-10B5-4A91-B679-950E4A5395EA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3A4E255B-A79B-4213-81D9-0D1514CA6FA5}" type="presOf" srcId="{E3FD0B13-2D2C-480F-A830-D99C1ADCBB4E}" destId="{FC0F1314-3294-4A8C-8DCE-EB53E236164C}" srcOrd="0" destOrd="2" presId="urn:microsoft.com/office/officeart/2011/layout/InterconnectedBlockProcess"/>
    <dgm:cxn modelId="{F521765C-1494-4A75-8960-DC16365EF9E7}" type="presOf" srcId="{05398079-FB76-436C-82CF-FAB4A50B6059}" destId="{98225A61-A0EC-450A-BED8-EF2E47E8FD18}" srcOrd="1" destOrd="0" presId="urn:microsoft.com/office/officeart/2011/layout/InterconnectedBlockProcess"/>
    <dgm:cxn modelId="{42091742-A9B5-47FB-8E0E-8C0642A42A1A}" srcId="{65C051F6-A849-4495-A964-CD4C650B9C06}" destId="{28FB8BAB-C97C-4036-8F66-CD5138124E10}" srcOrd="0" destOrd="0" parTransId="{B17F0817-5FF7-4515-AF00-AB82DBB71A3C}" sibTransId="{C8FE8ED6-A00D-43C4-AA22-B3FA89C88AF3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42EF8B75-D3A8-4895-AD19-C7EB57A3DB53}" type="presOf" srcId="{6F179DC3-E40C-4669-A19F-C57635D65FF4}" destId="{8CAE5A4D-0C7B-48A6-917B-0B8433D0574B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EB215E7A-A2D5-4649-BDED-A9C4F6D585C9}" type="presOf" srcId="{6F179DC3-E40C-4669-A19F-C57635D65FF4}" destId="{928B615F-0F8D-4140-A638-0FBB8F5BF1E9}" srcOrd="1" destOrd="1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FF986192-0898-491F-9B08-E4097D70BAA8}" type="presOf" srcId="{F8B4BD0A-38DD-44DE-A842-327532BA214D}" destId="{FC0F1314-3294-4A8C-8DCE-EB53E236164C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489589A-B374-4DF1-894E-332B569F2085}" srcId="{5E92505A-51E0-4F78-B3C5-704ACF8710DE}" destId="{05398079-FB76-436C-82CF-FAB4A50B6059}" srcOrd="0" destOrd="0" parTransId="{07B69C40-7438-4D06-B174-9C14CA52FB61}" sibTransId="{E636F1A5-CBBE-4F52-9E35-B0DECF890ADB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3862D0B9-316A-4273-85B2-AC6195DD0BAC}" srcId="{5E92505A-51E0-4F78-B3C5-704ACF8710DE}" destId="{F8B4BD0A-38DD-44DE-A842-327532BA214D}" srcOrd="1" destOrd="0" parTransId="{1BA0919B-4EA3-4C6E-BF6E-E1B5108DE142}" sibTransId="{36EC399E-DE5B-40A7-A6E8-6D3558335FFB}"/>
    <dgm:cxn modelId="{E739E3B9-ABAA-4A40-858E-8735C5DE9AAC}" type="presOf" srcId="{E3FD0B13-2D2C-480F-A830-D99C1ADCBB4E}" destId="{98225A61-A0EC-450A-BED8-EF2E47E8FD18}" srcOrd="1" destOrd="2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B3DDBDC2-8DAB-4445-8F86-263CC63EE05C}" srcId="{65C051F6-A849-4495-A964-CD4C650B9C06}" destId="{6F179DC3-E40C-4669-A19F-C57635D65FF4}" srcOrd="1" destOrd="0" parTransId="{2B8B3C08-A2F2-4C52-98F2-CFCD00B520E4}" sibTransId="{43439C8B-6079-416E-992F-7EC399AEBABD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A285EE1-AE6E-44EF-833A-03D1C07592F1}" type="presOf" srcId="{28FB8BAB-C97C-4036-8F66-CD5138124E10}" destId="{928B615F-0F8D-4140-A638-0FBB8F5BF1E9}" srcOrd="1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F33F19E8-AB71-4058-8B44-25FB99FAD7DF}" type="presOf" srcId="{05398079-FB76-436C-82CF-FAB4A50B6059}" destId="{FC0F1314-3294-4A8C-8DCE-EB53E236164C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A41DBEB-D75C-490B-AB3D-2CC47EEAFA67}" type="presOf" srcId="{28FB8BAB-C97C-4036-8F66-CD5138124E10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Fully functional Responsive company website</a:t>
          </a:r>
          <a:endParaRPr lang="en-IN" sz="1200" kern="1200" dirty="0"/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kern="1200" dirty="0"/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Backend development, database deployment, and core AI module integration.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Requirement analysis, system design approval, and frontend prototyping.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Poornima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2" y="4130278"/>
            <a:ext cx="1188325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CSE7302 - INTERNSHIP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Front-End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1503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Aditya Kulkarni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20221CSG0013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8CSG-01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7591-4F0C-B280-30FC-6FD5A7F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A51F-9BCF-7E53-FEBA-948013FC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6711-A3F7-F598-AC39-43F68B16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 err="1"/>
              <a:t>Raghuraj</a:t>
            </a:r>
            <a:r>
              <a:rPr lang="en-US" b="1" dirty="0"/>
              <a:t> </a:t>
            </a:r>
            <a:r>
              <a:rPr lang="en-US" dirty="0"/>
              <a:t>is an eco-conscious company focused on providing sustainable energy products and infrastructure. Their stated mission is to create a cleaner, more sustainable environment by helping customers adopt </a:t>
            </a:r>
            <a:r>
              <a:rPr lang="en-US" b="1" dirty="0"/>
              <a:t>economical and eco-friendly </a:t>
            </a:r>
            <a:r>
              <a:rPr lang="en-US" dirty="0"/>
              <a:t>lifestyles. </a:t>
            </a:r>
          </a:p>
          <a:p>
            <a:r>
              <a:rPr lang="en-US" dirty="0"/>
              <a:t>They specialize in the sale and installation of various green technology and utility systems.</a:t>
            </a:r>
          </a:p>
          <a:p>
            <a:r>
              <a:rPr lang="en-US" dirty="0"/>
              <a:t>The company is based in </a:t>
            </a:r>
            <a:r>
              <a:rPr lang="en-US" b="1" dirty="0"/>
              <a:t>Goa</a:t>
            </a:r>
            <a:r>
              <a:rPr lang="en-US" dirty="0"/>
              <a:t>, India but operates in </a:t>
            </a:r>
            <a:r>
              <a:rPr lang="en-US" b="1" dirty="0"/>
              <a:t>Mumbai</a:t>
            </a:r>
            <a:r>
              <a:rPr lang="en-US" dirty="0"/>
              <a:t> as well. They specialize in the sale and installation of various green technology and utility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AFFA6-7D25-698C-04DF-0B793C7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24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Products :</a:t>
            </a:r>
          </a:p>
          <a:p>
            <a:pPr marL="0" indent="0">
              <a:buNone/>
            </a:pPr>
            <a:r>
              <a:rPr lang="en-US" dirty="0"/>
              <a:t>The company provides installation and support services for many products, as well as other electrical services.</a:t>
            </a:r>
          </a:p>
          <a:p>
            <a:r>
              <a:rPr lang="en-IN" dirty="0"/>
              <a:t>Solar Panels </a:t>
            </a:r>
          </a:p>
          <a:p>
            <a:r>
              <a:rPr lang="en-IN" dirty="0"/>
              <a:t>Mini Wind Turbines </a:t>
            </a:r>
          </a:p>
          <a:p>
            <a:r>
              <a:rPr lang="en-IN" dirty="0"/>
              <a:t>EV Charging</a:t>
            </a:r>
          </a:p>
          <a:p>
            <a:r>
              <a:rPr lang="en-IN" dirty="0"/>
              <a:t>Transformer Generator </a:t>
            </a:r>
          </a:p>
          <a:p>
            <a:r>
              <a:rPr lang="en-IN" dirty="0"/>
              <a:t>WTP, STP </a:t>
            </a:r>
          </a:p>
          <a:p>
            <a:r>
              <a:rPr lang="en-IN" dirty="0"/>
              <a:t>Swimming Pool </a:t>
            </a:r>
          </a:p>
          <a:p>
            <a:r>
              <a:rPr lang="en-IN" dirty="0"/>
              <a:t>Heat Pump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3F19-DEA1-20CF-A4B0-79723F61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70CD-5230-B2E4-B9E4-F7AAFE4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4E0F-AA75-0717-2BC2-CBE55F64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Clients :</a:t>
            </a:r>
          </a:p>
          <a:p>
            <a:pPr marL="0" indent="0">
              <a:buNone/>
            </a:pPr>
            <a:r>
              <a:rPr lang="en-IN" dirty="0"/>
              <a:t>The company boasts a heavy client list of residential and commercial builders, hotels etc. from Mumbai as well as Goa.</a:t>
            </a:r>
          </a:p>
          <a:p>
            <a:r>
              <a:rPr lang="en-IN" dirty="0"/>
              <a:t>Hotel La Calypso, Hotel IVY, Hotel Ramada - Goa </a:t>
            </a:r>
          </a:p>
          <a:p>
            <a:r>
              <a:rPr lang="en-IN" dirty="0"/>
              <a:t>IKON INDUSTRIES – Mumbai</a:t>
            </a:r>
          </a:p>
          <a:p>
            <a:r>
              <a:rPr lang="en-IN" dirty="0"/>
              <a:t>DLH Lok Mitra – Goregaon, Mumbai</a:t>
            </a:r>
          </a:p>
          <a:p>
            <a:r>
              <a:rPr lang="en-IN" dirty="0" err="1"/>
              <a:t>Aadhvay</a:t>
            </a:r>
            <a:r>
              <a:rPr lang="en-IN" dirty="0"/>
              <a:t> Realtors - Goa</a:t>
            </a:r>
          </a:p>
          <a:p>
            <a:r>
              <a:rPr lang="en-IN" dirty="0" err="1"/>
              <a:t>Aadhvay</a:t>
            </a:r>
            <a:r>
              <a:rPr lang="en-IN" dirty="0"/>
              <a:t> Ventures - Goa</a:t>
            </a:r>
          </a:p>
          <a:p>
            <a:r>
              <a:rPr lang="en-IN" dirty="0"/>
              <a:t>Dynamic Crest - Thane</a:t>
            </a:r>
          </a:p>
          <a:p>
            <a:r>
              <a:rPr lang="en-IN" dirty="0"/>
              <a:t>HELICON HEIGHTS CHS. LTD. - Mumbai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BBCB-98F5-AE81-6B71-41C278B6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66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the course of the Internship, I have been designated to: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Work in the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Web Development &amp; Frontend Engineering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domain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Train with various design tools like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Focus on developing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responsive web platform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sustainable technology solutions in a team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Collaborate with the technical team to integrate frontend components with backend services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Technologies (as per role scope):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HTML, CSS, React (Frontend Web Technologies)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Responsive Web Design principles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UI/UX Design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Engineering &amp; Design Team</a:t>
            </a:r>
          </a:p>
          <a:p>
            <a:r>
              <a:rPr lang="en-IN" sz="2000" b="1" dirty="0"/>
              <a:t>Team Synergy:</a:t>
            </a:r>
            <a:r>
              <a:rPr lang="en-IN" sz="2000" dirty="0"/>
              <a:t> Collaborative environment focused on bridging the gap between UI/UX design and Front-End implementation.</a:t>
            </a:r>
          </a:p>
          <a:p>
            <a:r>
              <a:rPr lang="en-IN" sz="2000" b="1" dirty="0"/>
              <a:t>Core Tech Stack:</a:t>
            </a:r>
            <a:r>
              <a:rPr lang="en-IN" sz="2000" dirty="0"/>
              <a:t> Working alongside developers and designers using </a:t>
            </a:r>
            <a:r>
              <a:rPr lang="en-IN" sz="2000" b="1" dirty="0"/>
              <a:t>React.js</a:t>
            </a:r>
            <a:r>
              <a:rPr lang="en-IN" sz="2000" dirty="0"/>
              <a:t>, </a:t>
            </a:r>
            <a:r>
              <a:rPr lang="en-IN" sz="2000" b="1" dirty="0"/>
              <a:t>Figma</a:t>
            </a:r>
            <a:r>
              <a:rPr lang="en-IN" sz="2000" dirty="0"/>
              <a:t>, and </a:t>
            </a:r>
            <a:r>
              <a:rPr lang="en-IN" sz="2000" b="1" dirty="0"/>
              <a:t>Git</a:t>
            </a:r>
            <a:r>
              <a:rPr lang="en-IN" sz="2000" dirty="0"/>
              <a:t> for version control.</a:t>
            </a:r>
          </a:p>
          <a:p>
            <a:pPr marL="0" indent="0">
              <a:buNone/>
            </a:pPr>
            <a:r>
              <a:rPr lang="en-GB" sz="2000" b="1" dirty="0"/>
              <a:t>Mentorship &amp; Reporting</a:t>
            </a:r>
          </a:p>
          <a:p>
            <a:r>
              <a:rPr lang="en-GB" sz="2000" b="1" dirty="0"/>
              <a:t>Reporting Manager: Lead Engineer, Senior Lead Designer</a:t>
            </a:r>
          </a:p>
          <a:p>
            <a:r>
              <a:rPr lang="en-GB" sz="2000" b="1" dirty="0"/>
              <a:t>Key Guidance:</a:t>
            </a:r>
            <a:r>
              <a:rPr lang="en-GB" sz="2000" dirty="0"/>
              <a:t> Receiving mentorship on industry-standard React patterns and scalable CSS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Weak DSA concepts, causing a few interview rejections</a:t>
            </a:r>
          </a:p>
          <a:p>
            <a:r>
              <a:rPr lang="en-US" dirty="0"/>
              <a:t>Explaining in-depth implementation of React.js due to its vastness</a:t>
            </a:r>
          </a:p>
          <a:p>
            <a:r>
              <a:rPr lang="en-GB" dirty="0"/>
              <a:t>Balancing academic responsibilities, especially during the capstone project, all while preparing for internships</a:t>
            </a:r>
          </a:p>
          <a:p>
            <a:r>
              <a:rPr lang="en-GB" dirty="0"/>
              <a:t>Understanding industry expectations beyond classroom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To establish a comprehensive digital identity for </a:t>
            </a:r>
            <a:r>
              <a:rPr lang="en-US" b="1" dirty="0" err="1"/>
              <a:t>Raghuraj</a:t>
            </a:r>
            <a:r>
              <a:rPr lang="en-US" dirty="0"/>
              <a:t>, enabling the company to expand its market reach and streamline customer interactions through a modern web platform and other relevant social platforms.</a:t>
            </a:r>
          </a:p>
          <a:p>
            <a:r>
              <a:rPr lang="en-US" dirty="0"/>
              <a:t> Gain experience of building software solutions from the foundation to the deployment.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A2CDBB-3989-B77E-7A40-2B8F19CB3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4753" y="1207879"/>
            <a:ext cx="10515600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1600" b="1" dirty="0"/>
              <a:t>1. Modern Design Systems (Figma Focused)</a:t>
            </a:r>
          </a:p>
          <a:p>
            <a:r>
              <a:rPr lang="en-GB" sz="1600" b="1" dirty="0"/>
              <a:t>Atomic Design Principles:</a:t>
            </a:r>
            <a:r>
              <a:rPr lang="en-GB" sz="1600" dirty="0"/>
              <a:t> Researching how to break down UI into Atoms (buttons), Molecules (search bars), and Organisms (headers) to create a consistent brand language.</a:t>
            </a:r>
          </a:p>
          <a:p>
            <a:r>
              <a:rPr lang="en-GB" sz="1600" b="1" dirty="0"/>
              <a:t>Design-to-Code Handoff:</a:t>
            </a:r>
            <a:r>
              <a:rPr lang="en-GB" sz="1600" dirty="0"/>
              <a:t> Studying best practices for using Figma "Dev Mode" to ensure pixel-perfect translation of design assets into CSS/React components.</a:t>
            </a:r>
          </a:p>
          <a:p>
            <a:pPr marL="0" indent="0">
              <a:buNone/>
            </a:pPr>
            <a:r>
              <a:rPr lang="en-GB" sz="1600" b="1" dirty="0"/>
              <a:t>2. Component-Driven Development (React.js)</a:t>
            </a:r>
          </a:p>
          <a:p>
            <a:r>
              <a:rPr lang="en-GB" sz="1600" b="1" dirty="0"/>
              <a:t>Reusable Component Architecture:</a:t>
            </a:r>
            <a:r>
              <a:rPr lang="en-GB" sz="1600" dirty="0"/>
              <a:t> Exploring how to build a modular library in React to maintain UI consistency across the entire platform.</a:t>
            </a:r>
          </a:p>
          <a:p>
            <a:r>
              <a:rPr lang="en-GB" sz="1600" b="1" dirty="0"/>
              <a:t>State Management Patterns:</a:t>
            </a:r>
            <a:r>
              <a:rPr lang="en-GB" sz="1600" dirty="0"/>
              <a:t> Reviewing hooks (e.g., </a:t>
            </a:r>
            <a:r>
              <a:rPr lang="en-GB" sz="1600" dirty="0" err="1"/>
              <a:t>useState</a:t>
            </a:r>
            <a:r>
              <a:rPr lang="en-GB" sz="1600" dirty="0"/>
              <a:t>, </a:t>
            </a:r>
            <a:r>
              <a:rPr lang="en-GB" sz="1600" dirty="0" err="1"/>
              <a:t>useEffect</a:t>
            </a:r>
            <a:r>
              <a:rPr lang="en-GB" sz="1600" dirty="0"/>
              <a:t>) and context patterns to handle data flow efficiently in a team-based environment.</a:t>
            </a:r>
          </a:p>
          <a:p>
            <a:pPr marL="0" indent="0">
              <a:buNone/>
            </a:pPr>
            <a:r>
              <a:rPr lang="en-GB" sz="1600" b="1" dirty="0"/>
              <a:t>3. Collaborative Engineering &amp; Workflows</a:t>
            </a:r>
          </a:p>
          <a:p>
            <a:r>
              <a:rPr lang="en-GB" sz="1600" b="1" dirty="0"/>
              <a:t>Agile/Scrum Methodologies:</a:t>
            </a:r>
            <a:r>
              <a:rPr lang="en-GB" sz="1600" dirty="0"/>
              <a:t> Understanding the startup’s iterative development cycle and how front-end tasks fit into the broader product roadmap.</a:t>
            </a:r>
          </a:p>
          <a:p>
            <a:r>
              <a:rPr lang="en-GB" sz="1600" b="1" dirty="0"/>
              <a:t>Version Control (Git) Best Practices:</a:t>
            </a:r>
            <a:r>
              <a:rPr lang="en-GB" sz="1600" dirty="0"/>
              <a:t> Adopting "Git Flow" for feature branching and pull requests to ensure seamless collaboration within the engineering team.</a:t>
            </a:r>
          </a:p>
        </p:txBody>
      </p:sp>
    </p:spTree>
    <p:extLst>
      <p:ext uri="{BB962C8B-B14F-4D97-AF65-F5344CB8AC3E}">
        <p14:creationId xmlns:p14="http://schemas.microsoft.com/office/powerpoint/2010/main" val="312992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Disconnect:</a:t>
            </a:r>
            <a:r>
              <a:rPr lang="en-US" dirty="0"/>
              <a:t> Sustainable energy products have complex technical specifications that confuse customers. "</a:t>
            </a:r>
            <a:r>
              <a:rPr lang="en-US" dirty="0" err="1"/>
              <a:t>Raghuraj</a:t>
            </a:r>
            <a:r>
              <a:rPr lang="en-US" dirty="0"/>
              <a:t>" currently relies on manual support, leading to slow response times and scalability issues during high traffic. </a:t>
            </a:r>
          </a:p>
          <a:p>
            <a:r>
              <a:rPr lang="en-US" b="1" dirty="0"/>
              <a:t>The Need:</a:t>
            </a:r>
            <a:r>
              <a:rPr lang="en-US" dirty="0"/>
              <a:t> A digital transformation is required to move from manual troubleshooting to an automated, instant, and accessible web-based AI solution.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1: System Design &amp; Architecture Planning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2: Backend Development &amp; API Implementation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3: Integration, Testing &amp; Optimization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42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/>
              <a:t>Overview:</a:t>
            </a:r>
            <a:r>
              <a:rPr lang="en-US" dirty="0"/>
              <a:t> A unified React.js website acting as a product showcase and an automated support agent. </a:t>
            </a:r>
            <a:r>
              <a:rPr lang="en-US" b="1" dirty="0"/>
              <a:t>Workflow:</a:t>
            </a:r>
            <a:endParaRPr lang="en-US" dirty="0"/>
          </a:p>
          <a:p>
            <a:r>
              <a:rPr lang="en-US" b="1" dirty="0"/>
              <a:t>Frontend:</a:t>
            </a:r>
            <a:r>
              <a:rPr lang="en-US" dirty="0"/>
              <a:t> Built on </a:t>
            </a:r>
            <a:r>
              <a:rPr lang="en-US" b="1" dirty="0"/>
              <a:t>React.js</a:t>
            </a:r>
            <a:r>
              <a:rPr lang="en-US" dirty="0"/>
              <a:t> for a responsive, smooth user interface.</a:t>
            </a:r>
          </a:p>
          <a:p>
            <a:r>
              <a:rPr lang="en-US" b="1" dirty="0"/>
              <a:t>AI Engine:</a:t>
            </a:r>
            <a:r>
              <a:rPr lang="en-US" dirty="0"/>
              <a:t> A </a:t>
            </a:r>
            <a:r>
              <a:rPr lang="en-US" b="1" dirty="0" err="1"/>
              <a:t>FastAPI</a:t>
            </a:r>
            <a:r>
              <a:rPr lang="en-US" dirty="0"/>
              <a:t> backend captures queries, searches internal PDF manuals (Vector Search), and uses </a:t>
            </a:r>
            <a:r>
              <a:rPr lang="en-US" b="1" dirty="0"/>
              <a:t>Gemini API</a:t>
            </a:r>
            <a:r>
              <a:rPr lang="en-US" dirty="0"/>
              <a:t> to generate accurate answers.</a:t>
            </a:r>
          </a:p>
          <a:p>
            <a:r>
              <a:rPr lang="en-US" b="1" dirty="0"/>
              <a:t>Integration:</a:t>
            </a:r>
            <a:r>
              <a:rPr lang="en-US" dirty="0"/>
              <a:t> The chatbot floats globally across the site, preserving conversation context while the user browses products.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95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b="1" dirty="0"/>
              <a:t>Hardware:</a:t>
            </a:r>
            <a:endParaRPr lang="en-IN" dirty="0"/>
          </a:p>
          <a:p>
            <a:r>
              <a:rPr lang="en-IN" b="1" dirty="0"/>
              <a:t>CPU:</a:t>
            </a:r>
            <a:r>
              <a:rPr lang="en-IN" dirty="0"/>
              <a:t> Intel Core i5 / </a:t>
            </a:r>
            <a:r>
              <a:rPr lang="en-IN" dirty="0" err="1"/>
              <a:t>Ryzen</a:t>
            </a:r>
            <a:r>
              <a:rPr lang="en-IN" dirty="0"/>
              <a:t> 5 or better.</a:t>
            </a:r>
          </a:p>
          <a:p>
            <a:r>
              <a:rPr lang="en-IN" b="1" dirty="0"/>
              <a:t>RAM:</a:t>
            </a:r>
            <a:r>
              <a:rPr lang="en-IN" dirty="0"/>
              <a:t> 16GB (for local testing).</a:t>
            </a:r>
          </a:p>
          <a:p>
            <a:r>
              <a:rPr lang="en-IN" b="1" dirty="0"/>
              <a:t>Internet:</a:t>
            </a:r>
            <a:r>
              <a:rPr lang="en-IN" dirty="0"/>
              <a:t> High-speed connection for API latency.</a:t>
            </a:r>
          </a:p>
          <a:p>
            <a:endParaRPr lang="en-IN" dirty="0"/>
          </a:p>
          <a:p>
            <a:r>
              <a:rPr lang="en-IN" b="1" dirty="0"/>
              <a:t>Software:</a:t>
            </a:r>
            <a:endParaRPr lang="en-IN" dirty="0"/>
          </a:p>
          <a:p>
            <a:r>
              <a:rPr lang="en-IN" b="1" dirty="0"/>
              <a:t>Frontend:</a:t>
            </a:r>
            <a:r>
              <a:rPr lang="en-IN" dirty="0"/>
              <a:t> React.js, Tailwind CSS, Node.js.</a:t>
            </a:r>
          </a:p>
          <a:p>
            <a:r>
              <a:rPr lang="en-IN" b="1" dirty="0"/>
              <a:t>Backend:</a:t>
            </a:r>
            <a:r>
              <a:rPr lang="en-IN" dirty="0"/>
              <a:t> Python (</a:t>
            </a:r>
            <a:r>
              <a:rPr lang="en-IN" dirty="0" err="1"/>
              <a:t>FastAPI</a:t>
            </a:r>
            <a:r>
              <a:rPr lang="en-IN" dirty="0"/>
              <a:t>), PostgreSQL.</a:t>
            </a:r>
          </a:p>
          <a:p>
            <a:r>
              <a:rPr lang="en-IN" b="1" dirty="0"/>
              <a:t>AI:</a:t>
            </a:r>
            <a:r>
              <a:rPr lang="en-IN" dirty="0"/>
              <a:t> Google Gemini API, </a:t>
            </a:r>
            <a:r>
              <a:rPr lang="en-IN" dirty="0" err="1"/>
              <a:t>LangChain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26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8F2648-A04A-08BF-EC4B-CAADB6E9D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12954"/>
            <a:ext cx="10515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24/7 Availability: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Instant technical support regardless of business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thousands of concurrent queries without extra hiring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RAG implementation ensures answers come strictly from official manuals, not AI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UX: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React.js ensures a fast, app-like browsing experience without page reloads.</a:t>
            </a:r>
          </a:p>
        </p:txBody>
      </p:sp>
    </p:spTree>
    <p:extLst>
      <p:ext uri="{BB962C8B-B14F-4D97-AF65-F5344CB8AC3E}">
        <p14:creationId xmlns:p14="http://schemas.microsoft.com/office/powerpoint/2010/main" val="249970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5FFA7E-AADD-9FDF-A972-4C69CD5DB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2406" y="1184366"/>
            <a:ext cx="107871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(Client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React.js Single Page Application (SPA) featuring a responsive product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 and a persistent, floating AI chat interface.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(API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Python-based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to handle asynchronous client requests,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user sessions, and securely route data between the user and the AI.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 (Logic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Retrieval-Augmented Generation (RAG) pipeline. It will use a vector search to scan internal company manuals for relevant technical data and feed that context to the Gemini API to generate highly accurate answers.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(Storage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dual-database setup using PostgreSQL for structured product data and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logs, alongside a Vector Database (like Pinecone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ChromaDB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storing the document embeddings.</a:t>
            </a:r>
          </a:p>
        </p:txBody>
      </p:sp>
    </p:spTree>
    <p:extLst>
      <p:ext uri="{BB962C8B-B14F-4D97-AF65-F5344CB8AC3E}">
        <p14:creationId xmlns:p14="http://schemas.microsoft.com/office/powerpoint/2010/main" val="590093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Confidentiality Notice:</a:t>
            </a:r>
            <a:r>
              <a:rPr lang="en-US" sz="6400" dirty="0"/>
              <a:t> In compliance with company Non-Disclosure Agreements (NDA), proprietary source code, internal client data, and custom AI logic are omitted. The following outlines the high-level technical execution and architectural progress.</a:t>
            </a:r>
          </a:p>
          <a:p>
            <a:r>
              <a:rPr lang="en-US" sz="6400" b="1" dirty="0"/>
              <a:t>Current Implementation Progress:</a:t>
            </a:r>
            <a:endParaRPr lang="en-US" sz="6400" dirty="0"/>
          </a:p>
          <a:p>
            <a:r>
              <a:rPr lang="en-US" sz="6400" b="1" dirty="0"/>
              <a:t>Frontend Development (React.js):</a:t>
            </a:r>
            <a:endParaRPr lang="en-US" sz="6400" dirty="0"/>
          </a:p>
          <a:p>
            <a:pPr lvl="1"/>
            <a:r>
              <a:rPr lang="en-US" sz="6400" dirty="0"/>
              <a:t>Initialized the core Single Page Application (SPA) architecture and routing.</a:t>
            </a:r>
          </a:p>
          <a:p>
            <a:pPr lvl="1"/>
            <a:r>
              <a:rPr lang="en-US" sz="6400" dirty="0"/>
              <a:t>Implemented responsive UI components for the product catalog using Tailwind CSS.</a:t>
            </a:r>
          </a:p>
          <a:p>
            <a:pPr lvl="1"/>
            <a:r>
              <a:rPr lang="en-US" sz="6400" dirty="0"/>
              <a:t>Developed the foundational interface for the floating chatbot widget, including local state management for chat sessions.</a:t>
            </a:r>
          </a:p>
          <a:p>
            <a:r>
              <a:rPr lang="en-US" sz="6400" b="1" dirty="0"/>
              <a:t>Backend Engineering (Python/</a:t>
            </a:r>
            <a:r>
              <a:rPr lang="en-US" sz="6400" b="1" dirty="0" err="1"/>
              <a:t>FastAPI</a:t>
            </a:r>
            <a:r>
              <a:rPr lang="en-US" sz="6400" b="1" dirty="0"/>
              <a:t>):</a:t>
            </a:r>
            <a:endParaRPr lang="en-US" sz="6400" dirty="0"/>
          </a:p>
          <a:p>
            <a:pPr lvl="1"/>
            <a:r>
              <a:rPr lang="en-US" sz="6400" dirty="0"/>
              <a:t>Established the primary server environment and configured asynchronous RESTful API routes.</a:t>
            </a:r>
          </a:p>
          <a:p>
            <a:pPr lvl="1"/>
            <a:r>
              <a:rPr lang="en-US" sz="6400" dirty="0"/>
              <a:t>Created secure endpoints to receive user queries and handle client-server data transfer.</a:t>
            </a:r>
          </a:p>
          <a:p>
            <a:r>
              <a:rPr lang="en-US" sz="6400" b="1" dirty="0"/>
              <a:t>Database Integration (PostgreSQL):</a:t>
            </a:r>
            <a:endParaRPr lang="en-US" sz="6400" dirty="0"/>
          </a:p>
          <a:p>
            <a:pPr lvl="1"/>
            <a:r>
              <a:rPr lang="en-US" sz="6400" dirty="0"/>
              <a:t>Deployed the initial relational database schemas to manage product specifications and application logs.</a:t>
            </a:r>
          </a:p>
          <a:p>
            <a:r>
              <a:rPr lang="en-US" sz="6400" b="1" dirty="0"/>
              <a:t>AI &amp; RAG Pipeline Setup (Gemini API &amp; </a:t>
            </a:r>
            <a:r>
              <a:rPr lang="en-US" sz="6400" b="1" dirty="0" err="1"/>
              <a:t>LangChain</a:t>
            </a:r>
            <a:r>
              <a:rPr lang="en-US" sz="6400" b="1" dirty="0"/>
              <a:t>):</a:t>
            </a:r>
            <a:endParaRPr lang="en-US" sz="6400" dirty="0"/>
          </a:p>
          <a:p>
            <a:pPr lvl="1"/>
            <a:r>
              <a:rPr lang="en-US" sz="6400" dirty="0"/>
              <a:t>Configured the baseline API integration for Large Language Model processing.</a:t>
            </a:r>
          </a:p>
          <a:p>
            <a:pPr lvl="1"/>
            <a:r>
              <a:rPr lang="en-US" sz="6400" dirty="0"/>
              <a:t>Drafted the document-loading pipeline to parse sample technical PDFs into processable text chunks.</a:t>
            </a:r>
          </a:p>
          <a:p>
            <a:pPr lvl="1"/>
            <a:r>
              <a:rPr lang="en-US" sz="6400" dirty="0"/>
              <a:t>Initialized the Vector Database environment for future text embedding and retrieval.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73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69137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https://github.com/aditya-7524/CSE7302_Internship_20221CSG0013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7226</TotalTime>
  <Words>1534</Words>
  <Application>Microsoft Office PowerPoint</Application>
  <PresentationFormat>Widescreen</PresentationFormat>
  <Paragraphs>189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Aditya Kulkarni</cp:lastModifiedBy>
  <cp:revision>721</cp:revision>
  <dcterms:created xsi:type="dcterms:W3CDTF">2022-10-14T07:18:17Z</dcterms:created>
  <dcterms:modified xsi:type="dcterms:W3CDTF">2026-04-10T09:21:39Z</dcterms:modified>
</cp:coreProperties>
</file>