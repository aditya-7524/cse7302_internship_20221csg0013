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60" r:id="rId3"/>
    <p:sldId id="270" r:id="rId4"/>
    <p:sldId id="261" r:id="rId5"/>
    <p:sldId id="27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EB640-FF7D-4859-8CEF-89CFFE468480}" v="4" dt="2026-02-01T16:48:33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57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ulkarni" userId="cbd3b2f186323f70" providerId="LiveId" clId="{9991D43E-9479-4B29-B398-EC08BCCA3279}"/>
    <pc:docChg chg="custSel modSld">
      <pc:chgData name="Aditya Kulkarni" userId="cbd3b2f186323f70" providerId="LiveId" clId="{9991D43E-9479-4B29-B398-EC08BCCA3279}" dt="2026-02-01T16:48:33.871" v="65" actId="1076"/>
      <pc:docMkLst>
        <pc:docMk/>
      </pc:docMkLst>
      <pc:sldChg chg="modSp mod">
        <pc:chgData name="Aditya Kulkarni" userId="cbd3b2f186323f70" providerId="LiveId" clId="{9991D43E-9479-4B29-B398-EC08BCCA3279}" dt="2026-02-01T16:40:19.267" v="1" actId="20577"/>
        <pc:sldMkLst>
          <pc:docMk/>
          <pc:sldMk cId="3066724582" sldId="259"/>
        </pc:sldMkLst>
        <pc:spChg chg="mod">
          <ac:chgData name="Aditya Kulkarni" userId="cbd3b2f186323f70" providerId="LiveId" clId="{9991D43E-9479-4B29-B398-EC08BCCA3279}" dt="2026-02-01T16:40:19.267" v="1" actId="20577"/>
          <ac:spMkLst>
            <pc:docMk/>
            <pc:sldMk cId="3066724582" sldId="259"/>
            <ac:spMk id="90" creationId="{00000000-0000-0000-0000-000000000000}"/>
          </ac:spMkLst>
        </pc:spChg>
      </pc:sldChg>
      <pc:sldChg chg="modSp mod">
        <pc:chgData name="Aditya Kulkarni" userId="cbd3b2f186323f70" providerId="LiveId" clId="{9991D43E-9479-4B29-B398-EC08BCCA3279}" dt="2026-02-01T16:40:58.445" v="3" actId="27636"/>
        <pc:sldMkLst>
          <pc:docMk/>
          <pc:sldMk cId="658682123" sldId="262"/>
        </pc:sldMkLst>
        <pc:spChg chg="mod">
          <ac:chgData name="Aditya Kulkarni" userId="cbd3b2f186323f70" providerId="LiveId" clId="{9991D43E-9479-4B29-B398-EC08BCCA3279}" dt="2026-02-01T16:40:58.445" v="3" actId="27636"/>
          <ac:spMkLst>
            <pc:docMk/>
            <pc:sldMk cId="658682123" sldId="262"/>
            <ac:spMk id="3" creationId="{00000000-0000-0000-0000-000000000000}"/>
          </ac:spMkLst>
        </pc:spChg>
      </pc:sldChg>
      <pc:sldChg chg="modSp mod">
        <pc:chgData name="Aditya Kulkarni" userId="cbd3b2f186323f70" providerId="LiveId" clId="{9991D43E-9479-4B29-B398-EC08BCCA3279}" dt="2026-02-01T16:46:19.846" v="40" actId="20577"/>
        <pc:sldMkLst>
          <pc:docMk/>
          <pc:sldMk cId="2510696604" sldId="263"/>
        </pc:sldMkLst>
        <pc:spChg chg="mod">
          <ac:chgData name="Aditya Kulkarni" userId="cbd3b2f186323f70" providerId="LiveId" clId="{9991D43E-9479-4B29-B398-EC08BCCA3279}" dt="2026-02-01T16:46:19.846" v="40" actId="20577"/>
          <ac:spMkLst>
            <pc:docMk/>
            <pc:sldMk cId="2510696604" sldId="263"/>
            <ac:spMk id="3" creationId="{00000000-0000-0000-0000-000000000000}"/>
          </ac:spMkLst>
        </pc:spChg>
      </pc:sldChg>
      <pc:sldChg chg="modSp mod">
        <pc:chgData name="Aditya Kulkarni" userId="cbd3b2f186323f70" providerId="LiveId" clId="{9991D43E-9479-4B29-B398-EC08BCCA3279}" dt="2026-02-01T16:47:05.927" v="51" actId="20577"/>
        <pc:sldMkLst>
          <pc:docMk/>
          <pc:sldMk cId="2516334746" sldId="265"/>
        </pc:sldMkLst>
        <pc:spChg chg="mod">
          <ac:chgData name="Aditya Kulkarni" userId="cbd3b2f186323f70" providerId="LiveId" clId="{9991D43E-9479-4B29-B398-EC08BCCA3279}" dt="2026-02-01T16:47:05.927" v="51" actId="20577"/>
          <ac:spMkLst>
            <pc:docMk/>
            <pc:sldMk cId="2516334746" sldId="265"/>
            <ac:spMk id="3" creationId="{00000000-0000-0000-0000-000000000000}"/>
          </ac:spMkLst>
        </pc:spChg>
      </pc:sldChg>
      <pc:sldChg chg="modSp mod">
        <pc:chgData name="Aditya Kulkarni" userId="cbd3b2f186323f70" providerId="LiveId" clId="{9991D43E-9479-4B29-B398-EC08BCCA3279}" dt="2026-02-01T16:48:05.412" v="61" actId="20577"/>
        <pc:sldMkLst>
          <pc:docMk/>
          <pc:sldMk cId="2255950193" sldId="274"/>
        </pc:sldMkLst>
        <pc:spChg chg="mod">
          <ac:chgData name="Aditya Kulkarni" userId="cbd3b2f186323f70" providerId="LiveId" clId="{9991D43E-9479-4B29-B398-EC08BCCA3279}" dt="2026-02-01T16:48:05.412" v="61" actId="20577"/>
          <ac:spMkLst>
            <pc:docMk/>
            <pc:sldMk cId="2255950193" sldId="274"/>
            <ac:spMk id="3" creationId="{00000000-0000-0000-0000-000000000000}"/>
          </ac:spMkLst>
        </pc:spChg>
      </pc:sldChg>
      <pc:sldChg chg="modSp mod">
        <pc:chgData name="Aditya Kulkarni" userId="cbd3b2f186323f70" providerId="LiveId" clId="{9991D43E-9479-4B29-B398-EC08BCCA3279}" dt="2026-02-01T16:48:14.608" v="64" actId="20577"/>
        <pc:sldMkLst>
          <pc:docMk/>
          <pc:sldMk cId="1840268566" sldId="275"/>
        </pc:sldMkLst>
        <pc:spChg chg="mod">
          <ac:chgData name="Aditya Kulkarni" userId="cbd3b2f186323f70" providerId="LiveId" clId="{9991D43E-9479-4B29-B398-EC08BCCA3279}" dt="2026-02-01T16:48:14.608" v="64" actId="20577"/>
          <ac:spMkLst>
            <pc:docMk/>
            <pc:sldMk cId="1840268566" sldId="275"/>
            <ac:spMk id="3" creationId="{00000000-0000-0000-0000-000000000000}"/>
          </ac:spMkLst>
        </pc:spChg>
      </pc:sldChg>
      <pc:sldChg chg="modSp">
        <pc:chgData name="Aditya Kulkarni" userId="cbd3b2f186323f70" providerId="LiveId" clId="{9991D43E-9479-4B29-B398-EC08BCCA3279}" dt="2026-02-01T16:48:33.871" v="65" actId="1076"/>
        <pc:sldMkLst>
          <pc:docMk/>
          <pc:sldMk cId="2499704595" sldId="276"/>
        </pc:sldMkLst>
        <pc:spChg chg="mod">
          <ac:chgData name="Aditya Kulkarni" userId="cbd3b2f186323f70" providerId="LiveId" clId="{9991D43E-9479-4B29-B398-EC08BCCA3279}" dt="2026-02-01T16:48:33.871" v="65" actId="1076"/>
          <ac:spMkLst>
            <pc:docMk/>
            <pc:sldMk cId="2499704595" sldId="276"/>
            <ac:spMk id="5" creationId="{A68F2648-A04A-08BF-EC4B-CAADB6E9D56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Onboarding,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role and responsibility discussion and  project planning.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React.js implementation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1F05A44A-DCD5-466B-8FFA-119759A72279}">
      <dgm:prSet/>
      <dgm:spPr/>
      <dgm:t>
        <a:bodyPr/>
        <a:lstStyle/>
        <a:p>
          <a:pPr>
            <a:buNone/>
          </a:pPr>
          <a:r>
            <a:rPr lang="en-US"/>
            <a:t>Requirement analysis, system design approval, and frontend prototyping.</a:t>
          </a:r>
        </a:p>
      </dgm:t>
    </dgm:pt>
    <dgm:pt modelId="{A0FA2EDC-EE41-43AD-B03C-465DFC8E183C}" type="parTrans" cxnId="{1B1A7813-8BD7-4D35-9EEC-AB5495635B62}">
      <dgm:prSet/>
      <dgm:spPr/>
      <dgm:t>
        <a:bodyPr/>
        <a:lstStyle/>
        <a:p>
          <a:endParaRPr lang="en-IN"/>
        </a:p>
      </dgm:t>
    </dgm:pt>
    <dgm:pt modelId="{891ECB6C-1D70-45F5-90E9-8EB3AF91E756}" type="sibTrans" cxnId="{1B1A7813-8BD7-4D35-9EEC-AB5495635B62}">
      <dgm:prSet/>
      <dgm:spPr/>
      <dgm:t>
        <a:bodyPr/>
        <a:lstStyle/>
        <a:p>
          <a:endParaRPr lang="en-IN"/>
        </a:p>
      </dgm:t>
    </dgm:pt>
    <dgm:pt modelId="{3A5EF57C-1D59-48FE-B6D1-46659308B230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</a:p>
      </dgm:t>
    </dgm:pt>
    <dgm:pt modelId="{3D1BE282-A269-413D-AA9D-4F5674107F97}" type="parTrans" cxnId="{A46BD0F8-A2DB-4727-B32B-75EAC374F79A}">
      <dgm:prSet/>
      <dgm:spPr/>
      <dgm:t>
        <a:bodyPr/>
        <a:lstStyle/>
        <a:p>
          <a:endParaRPr lang="en-IN"/>
        </a:p>
      </dgm:t>
    </dgm:pt>
    <dgm:pt modelId="{AF87013B-389F-4C4A-98DA-22A1ACF40655}" type="sibTrans" cxnId="{A46BD0F8-A2DB-4727-B32B-75EAC374F79A}">
      <dgm:prSet/>
      <dgm:spPr/>
      <dgm:t>
        <a:bodyPr/>
        <a:lstStyle/>
        <a:p>
          <a:endParaRPr lang="en-IN"/>
        </a:p>
      </dgm:t>
    </dgm:pt>
    <dgm:pt modelId="{55AEFF20-95A7-404D-9DF6-8CE73612A622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Fully functional Responsive company website</a:t>
          </a:r>
        </a:p>
      </dgm:t>
    </dgm:pt>
    <dgm:pt modelId="{CC13F423-F419-4A2E-BE34-8B577ADDDD84}" type="parTrans" cxnId="{6C42881C-005C-4018-88CA-E0487278E9C5}">
      <dgm:prSet/>
      <dgm:spPr/>
      <dgm:t>
        <a:bodyPr/>
        <a:lstStyle/>
        <a:p>
          <a:endParaRPr lang="en-IN"/>
        </a:p>
      </dgm:t>
    </dgm:pt>
    <dgm:pt modelId="{71837813-C5E7-4B65-80CC-4360C4131D8F}" type="sibTrans" cxnId="{6C42881C-005C-4018-88CA-E0487278E9C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1B1A7813-8BD7-4D35-9EEC-AB5495635B62}" srcId="{7B3055AA-BF7C-46D0-9A9E-60087B9F57B4}" destId="{1F05A44A-DCD5-466B-8FFA-119759A72279}" srcOrd="1" destOrd="0" parTransId="{A0FA2EDC-EE41-43AD-B03C-465DFC8E183C}" sibTransId="{891ECB6C-1D70-45F5-90E9-8EB3AF91E756}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E15E2C18-67B6-4711-9649-C0A3B342415E}" type="presOf" srcId="{1F05A44A-DCD5-466B-8FFA-119759A72279}" destId="{6BCCFBA6-7A43-4631-AD7F-AFB10E1E6CD7}" srcOrd="1" destOrd="1" presId="urn:microsoft.com/office/officeart/2011/layout/InterconnectedBlockProcess"/>
    <dgm:cxn modelId="{6C42881C-005C-4018-88CA-E0487278E9C5}" srcId="{65C051F6-A849-4495-A964-CD4C650B9C06}" destId="{55AEFF20-95A7-404D-9DF6-8CE73612A622}" srcOrd="0" destOrd="0" parTransId="{CC13F423-F419-4A2E-BE34-8B577ADDDD84}" sibTransId="{71837813-C5E7-4B65-80CC-4360C4131D8F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A560368-5B59-4E81-AD65-422306A75314}" type="presOf" srcId="{55AEFF20-95A7-404D-9DF6-8CE73612A622}" destId="{928B615F-0F8D-4140-A638-0FBB8F5BF1E9}" srcOrd="1" destOrd="0" presId="urn:microsoft.com/office/officeart/2011/layout/InterconnectedBlockProcess"/>
    <dgm:cxn modelId="{9ABFEB49-7087-42F5-8CE8-B00E49AA58AB}" type="presOf" srcId="{3A5EF57C-1D59-48FE-B6D1-46659308B230}" destId="{98225A61-A0EC-450A-BED8-EF2E47E8FD18}" srcOrd="1" destOrd="0" presId="urn:microsoft.com/office/officeart/2011/layout/InterconnectedBlockProcess"/>
    <dgm:cxn modelId="{A13F076E-3A6E-4F99-8D65-C689DD5AA776}" type="presOf" srcId="{1F05A44A-DCD5-466B-8FFA-119759A72279}" destId="{06F8D57B-EDF4-4CF4-8700-DC2CA3E3028E}" srcOrd="0" destOrd="1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FB72C89E-C9FD-45D1-924F-6B71401C3BC8}" type="presOf" srcId="{65C051F6-A849-4495-A964-CD4C650B9C06}" destId="{C73DE52A-2F45-45E6-AD0E-D5BEAF609F8E}" srcOrd="0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4254BBA2-890C-4E53-9DCD-2A58EED8E2A6}" type="presOf" srcId="{55AEFF20-95A7-404D-9DF6-8CE73612A622}" destId="{8CAE5A4D-0C7B-48A6-917B-0B8433D0574B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4D13DFF0-452B-4B37-B7DA-C0E8B5C645C0}" type="presOf" srcId="{3A5EF57C-1D59-48FE-B6D1-46659308B230}" destId="{FC0F1314-3294-4A8C-8DCE-EB53E236164C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46BD0F8-A2DB-4727-B32B-75EAC374F79A}" srcId="{5E92505A-51E0-4F78-B3C5-704ACF8710DE}" destId="{3A5EF57C-1D59-48FE-B6D1-46659308B230}" srcOrd="0" destOrd="0" parTransId="{3D1BE282-A269-413D-AA9D-4F5674107F97}" sibTransId="{AF87013B-389F-4C4A-98DA-22A1ACF40655}"/>
    <dgm:cxn modelId="{48F63B19-6CAC-4059-AB5A-A514A3128B12}" type="presParOf" srcId="{A6BCDA7B-D633-438F-B44D-CB4D60E5C492}" destId="{0EA92EC0-9C6F-4663-B822-B1E8E3DCB13B}" srcOrd="0" destOrd="0" presId="urn:microsoft.com/office/officeart/2011/layout/InterconnectedBlockProcess"/>
    <dgm:cxn modelId="{3D443FC2-CEED-44E1-975E-124F97D50B0C}" type="presParOf" srcId="{0EA92EC0-9C6F-4663-B822-B1E8E3DCB13B}" destId="{8CAE5A4D-0C7B-48A6-917B-0B8433D0574B}" srcOrd="0" destOrd="0" presId="urn:microsoft.com/office/officeart/2011/layout/InterconnectedBlockProcess"/>
    <dgm:cxn modelId="{37FCAAF7-FD9B-4D6C-ACDE-047B0D16D0AE}" type="presParOf" srcId="{A6BCDA7B-D633-438F-B44D-CB4D60E5C492}" destId="{928B615F-0F8D-4140-A638-0FBB8F5BF1E9}" srcOrd="1" destOrd="0" presId="urn:microsoft.com/office/officeart/2011/layout/InterconnectedBlockProcess"/>
    <dgm:cxn modelId="{950819AA-05EB-4EF6-A5C9-80B05BF0A15D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Fully functional Responsive company website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React.js implementation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Requirement analysis, system design approval, and frontend prototyping.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Onboarding,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role and responsibility discussion and  project planning.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01/02/2026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IN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Poornima 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2" y="4130278"/>
            <a:ext cx="11883258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CSE7302 - INTERNSHIP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Pallavi R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Front-End Intern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698225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Aditya Kulkarni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20221CSG0013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8CSG-01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7591-4F0C-B280-30FC-6FD5A7F5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A51F-9BCF-7E53-FEBA-948013FC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6711-A3F7-F598-AC39-43F68B16D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 err="1"/>
              <a:t>Raghuraj</a:t>
            </a:r>
            <a:r>
              <a:rPr lang="en-US" b="1" dirty="0"/>
              <a:t> </a:t>
            </a:r>
            <a:r>
              <a:rPr lang="en-US" dirty="0"/>
              <a:t>is an eco-conscious company focused on providing sustainable energy products and infrastructure. Their stated mission is to create a cleaner, more sustainable environment by helping customers adopt </a:t>
            </a:r>
            <a:r>
              <a:rPr lang="en-US" b="1" dirty="0"/>
              <a:t>economical and eco-friendly </a:t>
            </a:r>
            <a:r>
              <a:rPr lang="en-US" dirty="0"/>
              <a:t>lifestyles. </a:t>
            </a:r>
          </a:p>
          <a:p>
            <a:r>
              <a:rPr lang="en-US" dirty="0"/>
              <a:t>They specialize in the sale and installation of various green technology and utility systems.</a:t>
            </a:r>
          </a:p>
          <a:p>
            <a:r>
              <a:rPr lang="en-US" dirty="0"/>
              <a:t>The company is based in </a:t>
            </a:r>
            <a:r>
              <a:rPr lang="en-US" b="1" dirty="0"/>
              <a:t>Goa</a:t>
            </a:r>
            <a:r>
              <a:rPr lang="en-US" dirty="0"/>
              <a:t>, India but operates in </a:t>
            </a:r>
            <a:r>
              <a:rPr lang="en-US" b="1" dirty="0"/>
              <a:t>Mumbai</a:t>
            </a:r>
            <a:r>
              <a:rPr lang="en-US" dirty="0"/>
              <a:t> as well. They specialize in the sale and installation of various green technology and utility systems.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AFFA6-7D25-698C-04DF-0B793C79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24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Products :</a:t>
            </a:r>
          </a:p>
          <a:p>
            <a:pPr marL="0" indent="0">
              <a:buNone/>
            </a:pPr>
            <a:r>
              <a:rPr lang="en-US" dirty="0"/>
              <a:t>The company provides installation and support services for many products, as well as other electrical services.</a:t>
            </a:r>
          </a:p>
          <a:p>
            <a:r>
              <a:rPr lang="en-IN" dirty="0"/>
              <a:t>Solar Panels </a:t>
            </a:r>
          </a:p>
          <a:p>
            <a:r>
              <a:rPr lang="en-IN" dirty="0"/>
              <a:t>Mini Wind Turbines </a:t>
            </a:r>
          </a:p>
          <a:p>
            <a:r>
              <a:rPr lang="en-IN" dirty="0"/>
              <a:t>EV Charging</a:t>
            </a:r>
          </a:p>
          <a:p>
            <a:r>
              <a:rPr lang="en-IN" dirty="0"/>
              <a:t>Transformer Generator </a:t>
            </a:r>
          </a:p>
          <a:p>
            <a:r>
              <a:rPr lang="en-IN" dirty="0"/>
              <a:t>WTP, STP </a:t>
            </a:r>
          </a:p>
          <a:p>
            <a:r>
              <a:rPr lang="en-IN" dirty="0"/>
              <a:t>Swimming Pool </a:t>
            </a:r>
          </a:p>
          <a:p>
            <a:r>
              <a:rPr lang="en-IN" dirty="0"/>
              <a:t>Heat Pump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3F19-DEA1-20CF-A4B0-79723F61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70CD-5230-B2E4-B9E4-F7AAFE41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64E0F-AA75-0717-2BC2-CBE55F644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Clients :</a:t>
            </a:r>
          </a:p>
          <a:p>
            <a:pPr marL="0" indent="0">
              <a:buNone/>
            </a:pPr>
            <a:r>
              <a:rPr lang="en-IN" dirty="0"/>
              <a:t>The company boasts a heavy client list of residential and commercial builders, hotels etc. from Mumbai as well as Goa.</a:t>
            </a:r>
          </a:p>
          <a:p>
            <a:r>
              <a:rPr lang="en-IN" dirty="0"/>
              <a:t>Hotel La Calypso, Hotel IVY, Hotel Ramada - Goa </a:t>
            </a:r>
          </a:p>
          <a:p>
            <a:r>
              <a:rPr lang="en-IN" dirty="0"/>
              <a:t>IKON INDUSTRIES – Mumbai</a:t>
            </a:r>
          </a:p>
          <a:p>
            <a:r>
              <a:rPr lang="en-IN" dirty="0"/>
              <a:t>DLH Lok Mitra – Goregaon, Mumbai</a:t>
            </a:r>
          </a:p>
          <a:p>
            <a:r>
              <a:rPr lang="en-IN" dirty="0" err="1"/>
              <a:t>Aadhvay</a:t>
            </a:r>
            <a:r>
              <a:rPr lang="en-IN" dirty="0"/>
              <a:t> Realtors - Goa</a:t>
            </a:r>
          </a:p>
          <a:p>
            <a:r>
              <a:rPr lang="en-IN" dirty="0" err="1"/>
              <a:t>Aadhvay</a:t>
            </a:r>
            <a:r>
              <a:rPr lang="en-IN" dirty="0"/>
              <a:t> Ventures - Goa</a:t>
            </a:r>
          </a:p>
          <a:p>
            <a:r>
              <a:rPr lang="en-IN" dirty="0"/>
              <a:t>Dynamic Crest - Thane</a:t>
            </a:r>
          </a:p>
          <a:p>
            <a:r>
              <a:rPr lang="en-IN" dirty="0"/>
              <a:t>HELICON HEIGHTS CHS. LTD. - Mumbai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DBBCB-98F5-AE81-6B71-41C278B6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66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During the course of the Internship, I have been designated to: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Work in the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Web Development &amp; Frontend Engineering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domain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Train with various design tools like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Focus on developing a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responsive web platform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for sustainable technology solutions in a team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Collaborate with the technical team to integrate frontend components with backend services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Technologies (as per role scope):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HTML, CSS, React (Frontend Web Technologies)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Responsive Web Design principles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UI/UX Design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Engineering &amp; Design Team</a:t>
            </a:r>
          </a:p>
          <a:p>
            <a:r>
              <a:rPr lang="en-IN" sz="2000" b="1" dirty="0"/>
              <a:t>Team Synergy:</a:t>
            </a:r>
            <a:r>
              <a:rPr lang="en-IN" sz="2000" dirty="0"/>
              <a:t> Collaborative environment focused on bridging the gap between UI/UX design and Front-End implementation.</a:t>
            </a:r>
          </a:p>
          <a:p>
            <a:r>
              <a:rPr lang="en-IN" sz="2000" b="1" dirty="0"/>
              <a:t>Core Tech Stack:</a:t>
            </a:r>
            <a:r>
              <a:rPr lang="en-IN" sz="2000" dirty="0"/>
              <a:t> Working alongside developers and designers using </a:t>
            </a:r>
            <a:r>
              <a:rPr lang="en-IN" sz="2000" b="1" dirty="0"/>
              <a:t>React.js</a:t>
            </a:r>
            <a:r>
              <a:rPr lang="en-IN" sz="2000" dirty="0"/>
              <a:t>, </a:t>
            </a:r>
            <a:r>
              <a:rPr lang="en-IN" sz="2000" b="1" dirty="0"/>
              <a:t>Figma</a:t>
            </a:r>
            <a:r>
              <a:rPr lang="en-IN" sz="2000" dirty="0"/>
              <a:t>, and </a:t>
            </a:r>
            <a:r>
              <a:rPr lang="en-IN" sz="2000" b="1" dirty="0"/>
              <a:t>Git</a:t>
            </a:r>
            <a:r>
              <a:rPr lang="en-IN" sz="2000" dirty="0"/>
              <a:t> for version control.</a:t>
            </a:r>
          </a:p>
          <a:p>
            <a:pPr marL="0" indent="0">
              <a:buNone/>
            </a:pPr>
            <a:r>
              <a:rPr lang="en-GB" sz="2000" b="1" dirty="0"/>
              <a:t>Mentorship &amp; Reporting</a:t>
            </a:r>
          </a:p>
          <a:p>
            <a:r>
              <a:rPr lang="en-GB" sz="2000" b="1" dirty="0"/>
              <a:t>Reporting Manager: Lead Engineer, Senior Lead Designer</a:t>
            </a:r>
          </a:p>
          <a:p>
            <a:r>
              <a:rPr lang="en-GB" sz="2000" b="1" dirty="0"/>
              <a:t>Key Guidance:</a:t>
            </a:r>
            <a:r>
              <a:rPr lang="en-GB" sz="2000" dirty="0"/>
              <a:t> Receiving mentorship on industry-standard React patterns and scalable CSS architectures.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Weak DSA concepts, causing a few interview rejections</a:t>
            </a:r>
          </a:p>
          <a:p>
            <a:r>
              <a:rPr lang="en-US" dirty="0"/>
              <a:t>Explaining in-depth implementation of React.js due to its vastness</a:t>
            </a:r>
          </a:p>
          <a:p>
            <a:r>
              <a:rPr lang="en-GB" dirty="0"/>
              <a:t>Balancing academic responsibilities, especially during the capstone project, all while preparing for internships</a:t>
            </a:r>
          </a:p>
          <a:p>
            <a:r>
              <a:rPr lang="en-GB" dirty="0"/>
              <a:t>Understanding industry expectations beyond classroom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To establish a comprehensive digital identity for </a:t>
            </a:r>
            <a:r>
              <a:rPr lang="en-US" b="1" dirty="0" err="1"/>
              <a:t>Raghuraj</a:t>
            </a:r>
            <a:r>
              <a:rPr lang="en-US" dirty="0"/>
              <a:t>, enabling the company to expand its market reach and streamline customer interactions through a modern web platform and other relevant social platforms.</a:t>
            </a:r>
          </a:p>
          <a:p>
            <a:r>
              <a:rPr lang="en-US" dirty="0"/>
              <a:t> Gain experience of building software solutions from the foundation to the deployment.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EA2CDBB-3989-B77E-7A40-2B8F19CB3B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0368" y="1207879"/>
            <a:ext cx="10322505" cy="4442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sz="1600" b="1" dirty="0"/>
              <a:t>1. Modern Design Systems (Figma Focused)</a:t>
            </a:r>
          </a:p>
          <a:p>
            <a:r>
              <a:rPr lang="en-GB" sz="1600" b="1" dirty="0"/>
              <a:t>Atomic Design Principles:</a:t>
            </a:r>
            <a:r>
              <a:rPr lang="en-GB" sz="1600" dirty="0"/>
              <a:t> Researching how to break down UI into Atoms (buttons), Molecules (search bars), and Organisms (headers) to create a consistent brand language.</a:t>
            </a:r>
          </a:p>
          <a:p>
            <a:r>
              <a:rPr lang="en-GB" sz="1600" b="1" dirty="0"/>
              <a:t>Design-to-Code Handoff:</a:t>
            </a:r>
            <a:r>
              <a:rPr lang="en-GB" sz="1600" dirty="0"/>
              <a:t> Studying best practices for using Figma "Dev Mode" to ensure pixel-perfect translation of design assets into CSS/React components.</a:t>
            </a:r>
          </a:p>
          <a:p>
            <a:pPr marL="0" indent="0">
              <a:buNone/>
            </a:pPr>
            <a:r>
              <a:rPr lang="en-GB" sz="1600" b="1" dirty="0"/>
              <a:t>2. Component-Driven Development (React.js)</a:t>
            </a:r>
          </a:p>
          <a:p>
            <a:r>
              <a:rPr lang="en-GB" sz="1600" b="1" dirty="0"/>
              <a:t>Reusable Component Architecture:</a:t>
            </a:r>
            <a:r>
              <a:rPr lang="en-GB" sz="1600" dirty="0"/>
              <a:t> Exploring how to build a modular library in React to maintain UI consistency across the entire platform.</a:t>
            </a:r>
          </a:p>
          <a:p>
            <a:r>
              <a:rPr lang="en-GB" sz="1600" b="1" dirty="0"/>
              <a:t>State Management Patterns:</a:t>
            </a:r>
            <a:r>
              <a:rPr lang="en-GB" sz="1600" dirty="0"/>
              <a:t> Reviewing hooks (e.g., </a:t>
            </a:r>
            <a:r>
              <a:rPr lang="en-GB" sz="1600" dirty="0" err="1"/>
              <a:t>useState</a:t>
            </a:r>
            <a:r>
              <a:rPr lang="en-GB" sz="1600" dirty="0"/>
              <a:t>, </a:t>
            </a:r>
            <a:r>
              <a:rPr lang="en-GB" sz="1600" dirty="0" err="1"/>
              <a:t>useEffect</a:t>
            </a:r>
            <a:r>
              <a:rPr lang="en-GB" sz="1600" dirty="0"/>
              <a:t>) and context patterns to handle data flow efficiently in a team-based environment.</a:t>
            </a:r>
          </a:p>
          <a:p>
            <a:pPr marL="0" indent="0">
              <a:buNone/>
            </a:pPr>
            <a:r>
              <a:rPr lang="en-GB" sz="1600" b="1" dirty="0"/>
              <a:t>3. Collaborative Engineering &amp; Workflows</a:t>
            </a:r>
          </a:p>
          <a:p>
            <a:r>
              <a:rPr lang="en-GB" sz="1600" b="1" dirty="0"/>
              <a:t>Agile/Scrum Methodologies:</a:t>
            </a:r>
            <a:r>
              <a:rPr lang="en-GB" sz="1600" dirty="0"/>
              <a:t> Understanding the startup’s iterative development cycle and how front-end tasks fit into the broader product roadmap.</a:t>
            </a:r>
          </a:p>
          <a:p>
            <a:r>
              <a:rPr lang="en-GB" sz="1600" b="1" dirty="0"/>
              <a:t>Version Control (Git) Best Practices:</a:t>
            </a:r>
            <a:r>
              <a:rPr lang="en-GB" sz="1600" dirty="0"/>
              <a:t> Adopting "Git Flow" for feature branching and pull requests to ensure seamless collaboration within the engineering team.</a:t>
            </a:r>
          </a:p>
        </p:txBody>
      </p:sp>
    </p:spTree>
    <p:extLst>
      <p:ext uri="{BB962C8B-B14F-4D97-AF65-F5344CB8AC3E}">
        <p14:creationId xmlns:p14="http://schemas.microsoft.com/office/powerpoint/2010/main" val="3129921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GB" dirty="0"/>
              <a:t>Phase 1: Design Foundation (Figma)</a:t>
            </a:r>
          </a:p>
          <a:p>
            <a:r>
              <a:rPr lang="en-IN" dirty="0"/>
              <a:t>Phase 2: Technical Implementation (React.js)</a:t>
            </a:r>
          </a:p>
          <a:p>
            <a:r>
              <a:rPr lang="en-GB" dirty="0"/>
              <a:t>Phase 3: Team Integration &amp; Quality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42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Overview:</a:t>
            </a:r>
            <a:r>
              <a:rPr lang="en-US" dirty="0"/>
              <a:t> A unified React.js website acting as a product showcase and an automated support agent. </a:t>
            </a:r>
          </a:p>
          <a:p>
            <a:pPr marL="0" indent="0">
              <a:buNone/>
            </a:pPr>
            <a:r>
              <a:rPr lang="en-US" b="1" dirty="0"/>
              <a:t>Workflow:</a:t>
            </a:r>
            <a:endParaRPr lang="en-US" dirty="0"/>
          </a:p>
          <a:p>
            <a:r>
              <a:rPr lang="en-US" b="1" dirty="0"/>
              <a:t>Frontend:</a:t>
            </a:r>
            <a:r>
              <a:rPr lang="en-US" dirty="0"/>
              <a:t> Built on </a:t>
            </a:r>
            <a:r>
              <a:rPr lang="en-US" b="1" dirty="0"/>
              <a:t>React.js</a:t>
            </a:r>
            <a:r>
              <a:rPr lang="en-US" dirty="0"/>
              <a:t> for a responsive, smooth user interface.</a:t>
            </a:r>
          </a:p>
          <a:p>
            <a:r>
              <a:rPr lang="en-US" b="1" dirty="0"/>
              <a:t>AI:</a:t>
            </a:r>
            <a:r>
              <a:rPr lang="en-US" dirty="0"/>
              <a:t> A </a:t>
            </a:r>
            <a:r>
              <a:rPr lang="en-US" b="1" dirty="0" err="1"/>
              <a:t>FastAPI</a:t>
            </a:r>
            <a:r>
              <a:rPr lang="en-US" dirty="0"/>
              <a:t> backend captures queries, searches internal PDF manuals (Vector Search), and uses </a:t>
            </a:r>
            <a:r>
              <a:rPr lang="en-US" b="1" dirty="0"/>
              <a:t>Gemini API</a:t>
            </a:r>
            <a:r>
              <a:rPr lang="en-US" dirty="0"/>
              <a:t> to generate accurate answers.</a:t>
            </a:r>
          </a:p>
          <a:p>
            <a:r>
              <a:rPr lang="en-US" b="1" dirty="0"/>
              <a:t>Backend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95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Hardware:</a:t>
            </a:r>
            <a:endParaRPr lang="en-IN" dirty="0"/>
          </a:p>
          <a:p>
            <a:r>
              <a:rPr lang="en-IN" b="1" dirty="0"/>
              <a:t>CPU:</a:t>
            </a:r>
            <a:r>
              <a:rPr lang="en-IN" dirty="0"/>
              <a:t> Intel Core i5 / </a:t>
            </a:r>
            <a:r>
              <a:rPr lang="en-IN" dirty="0" err="1"/>
              <a:t>Ryzen</a:t>
            </a:r>
            <a:r>
              <a:rPr lang="en-IN" dirty="0"/>
              <a:t> 5 or better.</a:t>
            </a:r>
          </a:p>
          <a:p>
            <a:r>
              <a:rPr lang="en-IN" b="1" dirty="0"/>
              <a:t>RAM:</a:t>
            </a:r>
            <a:r>
              <a:rPr lang="en-IN" dirty="0"/>
              <a:t> 16GB (for local testing).</a:t>
            </a:r>
          </a:p>
          <a:p>
            <a:r>
              <a:rPr lang="en-IN" b="1" dirty="0"/>
              <a:t>Internet:</a:t>
            </a:r>
            <a:r>
              <a:rPr lang="en-IN" dirty="0"/>
              <a:t> High-speed connection for API latency.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Software:</a:t>
            </a:r>
            <a:endParaRPr lang="en-IN" dirty="0"/>
          </a:p>
          <a:p>
            <a:r>
              <a:rPr lang="en-IN" b="1" dirty="0"/>
              <a:t>Frontend:</a:t>
            </a:r>
            <a:r>
              <a:rPr lang="en-IN" dirty="0"/>
              <a:t> React.js, Tailwind CSS, Node.js.</a:t>
            </a:r>
          </a:p>
          <a:p>
            <a:r>
              <a:rPr lang="en-IN" b="1" dirty="0"/>
              <a:t>Backend:</a:t>
            </a:r>
            <a:r>
              <a:rPr lang="en-IN" dirty="0"/>
              <a:t> Python (</a:t>
            </a:r>
            <a:r>
              <a:rPr lang="en-IN" dirty="0" err="1"/>
              <a:t>FastAPI</a:t>
            </a:r>
            <a:r>
              <a:rPr lang="en-IN" dirty="0"/>
              <a:t>), PostgreSQL.</a:t>
            </a:r>
          </a:p>
          <a:p>
            <a:r>
              <a:rPr lang="en-IN" b="1" dirty="0"/>
              <a:t>AI:</a:t>
            </a:r>
            <a:r>
              <a:rPr lang="en-IN" dirty="0"/>
              <a:t> Google Gemini API, </a:t>
            </a:r>
            <a:r>
              <a:rPr lang="en-IN" dirty="0" err="1"/>
              <a:t>LangChain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268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8F2648-A04A-08BF-EC4B-CAADB6E9D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5931" y="1393464"/>
            <a:ext cx="105156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24/7 Availability: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Instant technical support regardless of business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Handles thousands of concurrent queries without extra hiring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RAG implementation ensures answers come strictly from official manuals, not AI hallucinations.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Enhanced UX: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React.js ensures a fast, app-like browsing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249970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62556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https://github.com/aditya-7524/CSE7302_Internship_20221CSG0013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7328</TotalTime>
  <Words>1079</Words>
  <Application>Microsoft Office PowerPoint</Application>
  <PresentationFormat>Widescreen</PresentationFormat>
  <Paragraphs>145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Aditya Kulkarni</cp:lastModifiedBy>
  <cp:revision>721</cp:revision>
  <dcterms:created xsi:type="dcterms:W3CDTF">2022-10-14T07:18:17Z</dcterms:created>
  <dcterms:modified xsi:type="dcterms:W3CDTF">2026-02-01T16:48:42Z</dcterms:modified>
</cp:coreProperties>
</file>